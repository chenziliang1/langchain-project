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02e961bd745a9" /><Relationship Type="http://schemas.openxmlformats.org/officeDocument/2006/relationships/extended-properties" Target="/docProps/app.xml" Id="R8829ed8a6187483a" /><Relationship Type="http://schemas.openxmlformats.org/officeDocument/2006/relationships/officeDocument" Target="/ppt/presentation.xml" Id="R6539806658da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3a2e11c64426f"/>
  </p:sldMasterIdLst>
  <p:notesMasterIdLst>
    <p:notesMasterId xmlns:r="http://schemas.openxmlformats.org/officeDocument/2006/relationships" r:id="R481d4aa5913e4a78"/>
  </p:notesMasterIdLst>
  <p:sldIdLst>
    <p:sldId xmlns:r="http://schemas.openxmlformats.org/officeDocument/2006/relationships" id="256" r:id="R9512d365adef4b99"/>
    <p:sldId xmlns:r="http://schemas.openxmlformats.org/officeDocument/2006/relationships" id="257" r:id="Rbec2441677de49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3a2e11c64426f" /><Relationship Type="http://schemas.openxmlformats.org/officeDocument/2006/relationships/theme" Target="/ppt/theme/theme1.xml" Id="R54be7ec260804353" /><Relationship Type="http://schemas.openxmlformats.org/officeDocument/2006/relationships/notesMaster" Target="/ppt/notesMasters/notesMaster1.xml" Id="R481d4aa5913e4a78" /><Relationship Type="http://schemas.openxmlformats.org/officeDocument/2006/relationships/presProps" Target="/ppt/presProps.xml" Id="Rd196668ecd974e32" /><Relationship Type="http://schemas.openxmlformats.org/officeDocument/2006/relationships/viewProps" Target="/ppt/viewProps.xml" Id="R95d454d5df1447d5" /><Relationship Type="http://schemas.openxmlformats.org/officeDocument/2006/relationships/tableStyles" Target="/ppt/tableStyles.xml" Id="Rc26c1183dfac40ba" /><Relationship Type="http://schemas.openxmlformats.org/officeDocument/2006/relationships/slide" Target="/ppt/slides/slide1.xml" Id="R9512d365adef4b99" /><Relationship Type="http://schemas.openxmlformats.org/officeDocument/2006/relationships/slide" Target="/ppt/slides/slide2.xml" Id="Rbec2441677de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12c56c5304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c9c03c3334faf" /><Relationship Type="http://schemas.openxmlformats.org/officeDocument/2006/relationships/notesMaster" Target="/ppt/notesMasters/notesMaster1.xml" Id="R6fc8c8239c7c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a25b6c6094d8b" /><Relationship Type="http://schemas.openxmlformats.org/officeDocument/2006/relationships/notesMaster" Target="/ppt/notesMasters/notesMaster1.xml" Id="R288ef8ebf743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3466bbeb04f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5dfab01a014cf8" /><Relationship Type="http://schemas.openxmlformats.org/officeDocument/2006/relationships/slideLayout" Target="/ppt/slideLayouts/slideLayout2.xml" Id="R589585c66cfd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585c66cfd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078dbfbd5495f" /><Relationship Type="http://schemas.openxmlformats.org/officeDocument/2006/relationships/notesSlide" Target="/ppt/notesSlides/notesSlide1.xml" Id="R9f097dbd4fd7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dec199c04469d" /><Relationship Type="http://schemas.openxmlformats.org/officeDocument/2006/relationships/notesSlide" Target="/ppt/notesSlides/notesSlide2.xml" Id="R44d429ce4834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D7586-74D0-4DD5-861F-D803BCB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28728-D1FA-40E2-B41E-9447BAB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3985-CB32-408B-ACDC-7497B3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C759-E7F4-41D7-8A2A-7978CDE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719AF-A7EC-4B7F-930B-4021886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3736F-E000-41FE-92ED-76865AA7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0683-62A0-4BD3-99A3-802994A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4D10-EDE1-4301-92A6-46DBF7F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5C54-DA9D-4260-AA2B-2A673B3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F51E1-4A03-49E7-9F82-972EE6A6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grpSp>
        <p:nvGrpSpPr>
          <p:cNvPr id="45" name="THP Slide 1 Content Group"/>
          <p:cNvGrpSpPr/>
          <p:nvPr/>
        </p:nvGrpSpPr>
        <p:grpSpPr>
          <ns1:xfrm xmlns:ns1="http://schemas.openxmlformats.org/drawingml/2006/main">
            <ns1:off x="1143000" y="1066800"/>
            <ns1:ext cx="12077700" cy="7791450"/>
            <ns1:chOff x="1143000" y="1066800"/>
            <ns1:chExt cx="12077700" cy="7791450"/>
          </ns1:xfrm>
        </p:grpSpPr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6A2F17AB-9543-4AEA-A867-5B6FDBB2C6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066800"/>
              <a:ext cx="11239500" cy="8763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Transformer-Hawkes Process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6EDC530-5EAE-4DD5-BE37-12E8F8F558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320040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5A6A9717-D163-4F8E-931E-04B4EBBB7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14325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What is it?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EE5D6233-2C05-4176-977B-6D9A3E2101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638550"/>
              <a:ext cx="11239500" cy="685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A neural temporal model that combines Transformer attention with Hawkes-style event intensity dynamics for short-term risk forecasting.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E4924F1C-A646-4736-B0DB-C6A8EB4D5D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4867275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9C10723E-5EAD-43B3-9038-112BF2BB45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4810125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How it works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A895EAE-8602-4C29-BB5A-E5CBD2A79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5305425"/>
              <a:ext cx="1066800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The service loads a 30-day lookback, computes rolling features, then feeds the latest 14 daily vectors into THP.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0D7D5C1C-0669-45AF-A5C6-983F86CC3D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5953125"/>
              <a:ext cx="1952625" cy="1123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2F2"/>
            </a:solidFill>
            <a:ln xmlns:a="http://schemas.openxmlformats.org/drawingml/2006/main" w="9525">
              <a:solidFill>
                <a:srgbClr val="DDDDDD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E296F4-D23E-40CA-84CB-D76274D39E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9775" y="6124575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1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FFDD0FC-C524-4C69-A6B3-65EC7179C2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09825" y="6115050"/>
              <a:ext cx="1285875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GDELT summaries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02C43D20-B696-4959-8A38-A2EE674158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47875" y="6572250"/>
              <a:ext cx="157162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daily counts + tone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F863BDCC-4770-463D-A9E4-663B152587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86200" y="6315075"/>
              <a:ext cx="266700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&gt;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B30F3521-3270-45B0-BF0F-BC1DBF3B9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10050" y="5953125"/>
              <a:ext cx="1952625" cy="1123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2F2"/>
            </a:solidFill>
            <a:ln xmlns:a="http://schemas.openxmlformats.org/drawingml/2006/main" w="9525">
              <a:solidFill>
                <a:srgbClr val="DDDDDD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E008B73F-F6D0-4CE0-B11C-EF1F351F6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62450" y="6124575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2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5B38C144-E22E-4DC7-96A3-C1F80B4F7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6115050"/>
              <a:ext cx="1285875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30-day lookback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DA3F47CB-8ABD-44EE-A7B2-B5025B49D1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00550" y="6572250"/>
              <a:ext cx="157162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latest 14 vectors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862CF15E-35D1-49A2-A79B-CC696B5E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38875" y="6315075"/>
              <a:ext cx="266700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&gt;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80CBC8F-D509-4211-96DD-B65CE03BEB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62725" y="5953125"/>
              <a:ext cx="1952625" cy="1123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2F2"/>
            </a:solidFill>
            <a:ln xmlns:a="http://schemas.openxmlformats.org/drawingml/2006/main" w="9525">
              <a:solidFill>
                <a:srgbClr val="DDDDDD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0DB9E8E6-B4F5-40E8-B2BF-E4CE6AE67A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6124575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3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0CE75778-6651-4F08-87A9-9EF9B996EB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15175" y="6115050"/>
              <a:ext cx="1285875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Transformer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774CD7E5-438F-4C31-BB0C-FD8A81BA9C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3225" y="6572250"/>
              <a:ext cx="157162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attention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DF4AC25C-07E9-4FB2-9225-75E0933D6B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91550" y="6315075"/>
              <a:ext cx="266700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&gt;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CC8467E3-4F77-4CDA-B9AC-8CD3FDE4AF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15400" y="5953125"/>
              <a:ext cx="1952625" cy="1123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2F2"/>
            </a:solidFill>
            <a:ln xmlns:a="http://schemas.openxmlformats.org/drawingml/2006/main" w="9525">
              <a:solidFill>
                <a:srgbClr val="DDDDDD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265FC86B-78F0-467A-8ACA-6D32B335A6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67800" y="6124575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4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648CA30D-B3CD-44D6-B3DD-8E92AEE655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7850" y="6115050"/>
              <a:ext cx="1285875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Hawkes head</a:t>
              </a:r>
            </a:p>
          </p:txBody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A395E000-34DD-4DF6-BF55-C0A922A8AC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05900" y="6572250"/>
              <a:ext cx="157162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excitation + decay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78226511-6900-479A-8378-52CACD088E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944225" y="6315075"/>
              <a:ext cx="266700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&gt;</a:t>
              </a:r>
            </a:p>
          </p:txBody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320735E5-915D-4C58-AC59-521D4D17FE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68075" y="5953125"/>
              <a:ext cx="1952625" cy="1123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2F2"/>
            </a:solidFill>
            <a:ln xmlns:a="http://schemas.openxmlformats.org/drawingml/2006/main" w="9525">
              <a:solidFill>
                <a:srgbClr val="DDDDDD"/>
              </a:solidFill>
              <a:prstDash val="solid"/>
            </a:ln>
          </p:spPr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DBF61B5B-49A7-47F9-B63A-AE04594E88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20475" y="6124575"/>
              <a:ext cx="285750" cy="2857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  <p:txBody>
            <a:bodyPr xmlns:a="http://schemas.openxmlformats.org/drawingml/2006/main" anchor="ctr"/>
            <a:lstStyle xmlns:a="http://schemas.openxmlformats.org/drawingml/2006/main"/>
            <a:p xmlns:a="http://schemas.openxmlformats.org/drawingml/2006/main">
              <a:pPr algn="ctr">
                <a:def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5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F93C2B9C-592F-430E-85C8-79C67C530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20525" y="6115050"/>
              <a:ext cx="1285875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3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7-day output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3FA92996-641B-4526-AB59-00DA40FD66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58575" y="6572250"/>
              <a:ext cx="157162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low / median / high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EB15D110-AD14-467E-B466-C98FD13177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786765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8140A1DD-D2B4-434B-B3E4-3C63CAAA75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781050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2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Forecast output</a:t>
              </a:r>
            </a:p>
          </p:txBody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34500F4F-6EDF-4503-BF61-E57D81FE7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8305800"/>
              <a:ext cx="11239500" cy="5524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Low / median / high event counts for global, country, actor, country-pair, actor-pair, event-root, and event-code targets.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10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1A0BC-64E4-4C01-8540-34F798C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75C6-E4FA-4644-A662-CE92292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39CAB-AF98-4710-8816-15595A4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4B2D7-0C41-4804-AF0F-946C4D0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64C0-E214-4159-8AB1-612F11E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046D0-302B-48EB-8D31-DE46101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4786-3B05-49C3-9AC4-BE651B8A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D37C5-BB81-448A-AB2D-1386A3D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7D0C-7429-4976-A4B0-6B41DF1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56B4B-BA34-47E9-90C3-B7963E2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grpSp>
        <p:nvGrpSpPr>
          <p:cNvPr id="43" name="THP Slide 2 Content Group"/>
          <p:cNvGrpSpPr/>
          <p:nvPr/>
        </p:nvGrpSpPr>
        <p:grpSpPr>
          <ns1:xfrm xmlns:ns1="http://schemas.openxmlformats.org/drawingml/2006/main">
            <ns1:off x="1143000" y="1066800"/>
            <ns1:ext cx="11715750" cy="7000875"/>
            <ns1:chOff x="1143000" y="1066800"/>
            <ns1:chExt cx="11715750" cy="7000875"/>
          </ns1:xfrm>
        </p:grpSpPr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DAFA600-3A02-498B-B22F-C1B9F8DF60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066800"/>
              <a:ext cx="11239500" cy="8763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THP + LLM Advantages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64746207-53A3-439D-920D-A96C6F4C6E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291465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21D60E9-AB75-4815-AB83-DED9159FAF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285750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Why not only use an LLM?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30B666AB-3D19-4BE3-BA3E-F4C03AD68C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352800"/>
              <a:ext cx="5905500" cy="895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General LLMs are useful for explanation, but they are not trained to predict exact future event counts from historical GDELT series.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B2F265D-3E57-4517-B6A5-198690ABF7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4381500"/>
              <a:ext cx="247650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DBD91050-A9E8-4C6B-8051-A60526A2D7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6475" y="4333875"/>
              <a:ext cx="242887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THP: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84211F1-27C6-4F2A-B4F6-6A40808021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4333875"/>
              <a:ext cx="371475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numeric forecasts + uncertainty bands.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381E4099-5323-4662-90E0-5CD3E71913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5143500"/>
              <a:ext cx="247650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BD2668-6DC7-4491-A904-6B1C627CDF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6475" y="5095875"/>
              <a:ext cx="242887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LLM: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1054C20C-0158-4964-9260-ADC625B6BD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5095875"/>
              <a:ext cx="371475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readable reasoning and caveats.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BB3A3CA5-10C6-4326-8429-F130E2B9F7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BACKTEST MAE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54E229C8-6F1C-4EE1-AF59-7F269ADF1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83.77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FB99F35-50EA-4280-9CD6-E567991B76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lower is better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808B2F7A-AE48-470B-8A5F-1D607C770E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BASELINE MAE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C414857-E81B-4724-9FE0-498C2E13CE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167.74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74BD5DD2-956E-4F09-85F0-F4C0D5935A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7-day moving average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AFF2068F-63F5-4A79-B49D-A815ED538B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MODEL SIZE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A4F1CD14-3A21-407F-9FFC-F2831FC825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1.56 MB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93ADED8C-0D17-4A70-A93E-1E640461B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forecast-ready checkpoint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E6F7E0DD-835E-446A-880C-0AD4CBB34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PARAMETERS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D463B996-BF48-493B-BC73-90B663192C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0.38M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06101CC7-48D6-4E74-A02F-84A4E94855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fast local inference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BFE78E02-41FE-4812-B345-F27A6BECFF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095625"/>
              <a:ext cx="4333875" cy="27146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5F5"/>
            </a:solidFill>
            <a:ln xmlns:a="http://schemas.openxmlformats.org/drawingml/2006/main" w="9525">
              <a:solidFill>
                <a:srgbClr val="D7D7D7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1DAF6984-0632-4B36-B90B-5A6CB64FA5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3343275"/>
              <a:ext cx="3714750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6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Held-out validation MAE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D22BC6F4-7A8E-42E5-BDEF-A8F66C50AF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44025" y="3962400"/>
              <a:ext cx="876300" cy="1428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1C632"/>
            </a:solidFill>
            <a:ln xmlns:a="http://schemas.openxmlformats.org/drawingml/2006/main" w="0">
              <a:solidFill>
                <a:srgbClr val="91C632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6BAB6D-1E41-4D29-BAB3-7B270A4C85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9025" y="4667250"/>
              <a:ext cx="876300" cy="723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88DA6F69-DDF3-4851-8AE7-5F0BA207EE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15425" y="5391150"/>
              <a:ext cx="333375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EBEBE"/>
            </a:solidFill>
            <a:ln xmlns:a="http://schemas.openxmlformats.org/drawingml/2006/main" w="0">
              <a:solidFill>
                <a:srgbClr val="BEBEBE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60238412-EEAB-4DB4-8AC8-427BF131DF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01150" y="3705225"/>
              <a:ext cx="1190625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167.74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505BA846-5A4A-4398-9E99-A9D0F68725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96625" y="4410075"/>
              <a:ext cx="1190625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83.77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B7E3C606-82AC-468D-A3B8-63CE02A759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01125" y="5505450"/>
              <a:ext cx="1524000" cy="2095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Moving avg 7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67B0AB3E-18C5-4689-8AF0-17A06947E3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96625" y="5505450"/>
              <a:ext cx="1143000" cy="2095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THP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3B4F4529-E48F-41A4-8326-E3340F6827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7667625"/>
              <a:ext cx="93345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0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0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Result: about 50% lower MAE than the 7-day moving-average baseline.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0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2026-05-04T18:45:43.9830000Z</dcterms:created>
  <dcterms:modified xsi:type="dcterms:W3CDTF">2026-05-04T18:45:43.9830000Z</dcterms:modified>
</coreProperties>
</file>