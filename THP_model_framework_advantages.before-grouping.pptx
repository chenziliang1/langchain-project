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02e961bd745a9" /><Relationship Type="http://schemas.openxmlformats.org/officeDocument/2006/relationships/extended-properties" Target="/docProps/app.xml" Id="R8829ed8a6187483a" /><Relationship Type="http://schemas.openxmlformats.org/officeDocument/2006/relationships/officeDocument" Target="/ppt/presentation.xml" Id="R6539806658da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3a2e11c64426f"/>
  </p:sldMasterIdLst>
  <p:notesMasterIdLst>
    <p:notesMasterId xmlns:r="http://schemas.openxmlformats.org/officeDocument/2006/relationships" r:id="R481d4aa5913e4a78"/>
  </p:notesMasterIdLst>
  <p:sldIdLst>
    <p:sldId xmlns:r="http://schemas.openxmlformats.org/officeDocument/2006/relationships" id="256" r:id="R9512d365adef4b99"/>
    <p:sldId xmlns:r="http://schemas.openxmlformats.org/officeDocument/2006/relationships" id="257" r:id="Rbec2441677de499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3a2e11c64426f" /><Relationship Type="http://schemas.openxmlformats.org/officeDocument/2006/relationships/theme" Target="/ppt/theme/theme1.xml" Id="R54be7ec260804353" /><Relationship Type="http://schemas.openxmlformats.org/officeDocument/2006/relationships/notesMaster" Target="/ppt/notesMasters/notesMaster1.xml" Id="R481d4aa5913e4a78" /><Relationship Type="http://schemas.openxmlformats.org/officeDocument/2006/relationships/presProps" Target="/ppt/presProps.xml" Id="Rd196668ecd974e32" /><Relationship Type="http://schemas.openxmlformats.org/officeDocument/2006/relationships/viewProps" Target="/ppt/viewProps.xml" Id="R95d454d5df1447d5" /><Relationship Type="http://schemas.openxmlformats.org/officeDocument/2006/relationships/tableStyles" Target="/ppt/tableStyles.xml" Id="Rc26c1183dfac40ba" /><Relationship Type="http://schemas.openxmlformats.org/officeDocument/2006/relationships/slide" Target="/ppt/slides/slide1.xml" Id="R9512d365adef4b99" /><Relationship Type="http://schemas.openxmlformats.org/officeDocument/2006/relationships/slide" Target="/ppt/slides/slide2.xml" Id="Rbec2441677de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712c56c5304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c9c03c3334faf" /><Relationship Type="http://schemas.openxmlformats.org/officeDocument/2006/relationships/notesMaster" Target="/ppt/notesMasters/notesMaster1.xml" Id="R6fc8c8239c7c46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9a25b6c6094d8b" /><Relationship Type="http://schemas.openxmlformats.org/officeDocument/2006/relationships/notesMaster" Target="/ppt/notesMasters/notesMaster1.xml" Id="R288ef8ebf743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3466bbeb04f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5dfab01a014cf8" /><Relationship Type="http://schemas.openxmlformats.org/officeDocument/2006/relationships/slideLayout" Target="/ppt/slideLayouts/slideLayout2.xml" Id="R589585c66cfd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585c66cfd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078dbfbd5495f" /><Relationship Type="http://schemas.openxmlformats.org/officeDocument/2006/relationships/notesSlide" Target="/ppt/notesSlides/notesSlide1.xml" Id="R9f097dbd4fd7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dec199c04469d" /><Relationship Type="http://schemas.openxmlformats.org/officeDocument/2006/relationships/notesSlide" Target="/ppt/notesSlides/notesSlide2.xml" Id="R44d429ce48344b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D7586-74D0-4DD5-861F-D803BCB0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28728-D1FA-40E2-B41E-9447BAB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5810250"/>
            <a:ext cx="1476375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13985-CB32-408B-ACDC-7497B37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0"/>
            <a:ext cx="1733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C759-E7F4-41D7-8A2A-7978CDE1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-476250"/>
            <a:ext cx="3524250" cy="11144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F7D36"/>
          </a:solidFill>
          <a:ln xmlns:a="http://schemas.openxmlformats.org/drawingml/2006/main" w="0">
            <a:solidFill>
              <a:srgbClr val="4F7D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719AF-A7EC-4B7F-930B-40218864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-476250"/>
            <a:ext cx="2857500" cy="9953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3736F-E000-41FE-92ED-76865AA7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-95250"/>
            <a:ext cx="4000500" cy="1066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9946"/>
          </a:solidFill>
          <a:ln xmlns:a="http://schemas.openxmlformats.org/drawingml/2006/main" w="0">
            <a:solidFill>
              <a:srgbClr val="699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20683-62A0-4BD3-99A3-802994AC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762500"/>
            <a:ext cx="3238500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44D10-EDE1-4301-92A6-46DBF7FC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95750"/>
            <a:ext cx="3190875" cy="428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5C54-DA9D-4260-AA2B-2A673B3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-95250"/>
            <a:ext cx="47625" cy="885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F51E1-4A03-49E7-9F82-972EE6A6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91500"/>
            <a:ext cx="5905500" cy="28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F17AB-9543-4AEA-A867-5B6FDBB2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11239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0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Transformer-Hawkes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DC530-5EAE-4DD5-BE37-12E8F8F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A9717-D163-4F8E-931E-04B4EBBB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9525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What is 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D6233-2C05-4176-977B-6D9A3E21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112395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A neural temporal model that combines Transformer attention with Hawkes-style event intensity dynamics for short-term risk forecasting.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24F1C-A646-4736-B0DB-C6A8EB4D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72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0723E-5EAD-43B3-9038-112BF2BB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0125"/>
            <a:ext cx="9525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How it works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95EAE-8602-4C29-BB5A-E5CBD2A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05425"/>
            <a:ext cx="1066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The service loads a 30-day lookback, computes rolling features, then feeds the latest 14 daily vectors into THP.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D5C1C-0669-45AF-A5C6-983F86CC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296F4-D23E-40CA-84CB-D76274D3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DD0FC-C524-4C69-A6B3-65EC7179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GDELT summaries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43D20-B696-4959-8A38-A2EE6741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daily counts + tone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3BDCC-4770-463D-A9E4-663B1525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315075"/>
            <a:ext cx="2667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F3521-3270-45B0-BF0F-BC1DBF3B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8B73F-F6D0-4CE0-B11C-EF1F351F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8C144-E22E-4DC7-96A3-C1F80B4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30-day lookback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F47CB-8ABD-44EE-A7B2-B5025B49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latest 14 vectors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CF15E-35D1-49A2-A79B-CC696B5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315075"/>
            <a:ext cx="2667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0CBC8F-D509-4211-96DD-B65CE03B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9E8E6-B4F5-40E8-B2BF-E4CE6AE6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75778-6651-4F08-87A9-9EF9B99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Transformer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CD7E5-438F-4C31-BB0C-FD8A81BA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4AC25C-07E9-4FB2-9225-75E0933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315075"/>
            <a:ext cx="2667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467E3-4F77-4CDA-B9AC-8CD3FDE4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5FC86B-78F0-467A-8ACA-6D32B33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8CA30D-B3CD-44D6-B3DD-8E92AEE6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Hawkes head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95E000-34DD-4DF6-BF55-C0A922A8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excitation + decay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26511-6900-479A-8378-52CACD08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6315075"/>
            <a:ext cx="2667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0735E5-915D-4C58-AC59-521D4D17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F61B5B-49A7-47F9-B63A-AE04594E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3C2B9C-592F-430E-85C8-79C67C53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7-day output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A92996-641B-4526-AB59-00DA40FD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low / median / high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15D110-AD14-467E-B466-C98FD131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86765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40A1DD-D2B4-434B-B3E4-3C63CAA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0"/>
            <a:ext cx="9525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Forecast output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500F4F-6EDF-4503-BF61-E57D81F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305800"/>
            <a:ext cx="11239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Low / median / high event counts for global, country, actor, country-pair, actor-pair, event-root, and event-code targets.</a:t>
            </a:r>
          </a:p>
        </p:txBody>
      </p:sp>
    </p:spTree>
    <p:extLst>
      <p:ext uri="{BB962C8B-B14F-4D97-AF65-F5344CB8AC3E}">
        <p14:creationId xmlns:p14="http://schemas.microsoft.com/office/powerpoint/2010/main" val="3610102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1A0BC-64E4-4C01-8540-34F798C5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775C6-E4FA-4644-A662-CE92292A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5810250"/>
            <a:ext cx="1476375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39CAB-AF98-4710-8816-15595A4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0"/>
            <a:ext cx="1733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4B2D7-0C41-4804-AF0F-946C4D0D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-476250"/>
            <a:ext cx="3524250" cy="11144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F7D36"/>
          </a:solidFill>
          <a:ln xmlns:a="http://schemas.openxmlformats.org/drawingml/2006/main" w="0">
            <a:solidFill>
              <a:srgbClr val="4F7D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864C0-E214-4159-8AB1-612F11EB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-476250"/>
            <a:ext cx="2857500" cy="9953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046D0-302B-48EB-8D31-DE46101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-95250"/>
            <a:ext cx="4000500" cy="1066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9946"/>
          </a:solidFill>
          <a:ln xmlns:a="http://schemas.openxmlformats.org/drawingml/2006/main" w="0">
            <a:solidFill>
              <a:srgbClr val="699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54786-3B05-49C3-9AC4-BE651B8A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762500"/>
            <a:ext cx="3238500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D37C5-BB81-448A-AB2D-1386A3D5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95750"/>
            <a:ext cx="3190875" cy="428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C7D0C-7429-4976-A4B0-6B41DF1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-95250"/>
            <a:ext cx="47625" cy="885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56B4B-BA34-47E9-90C3-B7963E29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91500"/>
            <a:ext cx="5905500" cy="28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FA600-3A02-498B-B22F-C1B9F8DF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11239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0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THP + LLM 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46207-53A3-439D-920D-A96C6F4C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D60E9-AB75-4815-AB83-DED9159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57500"/>
            <a:ext cx="9525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Why not only use an LLM?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666AB-3D19-4BE3-BA3E-F4C03AD6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52800"/>
            <a:ext cx="59055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General LLMs are useful for explanation, but they are not trained to predict exact future event counts from historical GDELT series.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F265D-3E57-4517-B6A5-198690A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81500"/>
            <a:ext cx="2476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91050-A9E8-4C6B-8051-A60526A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333875"/>
            <a:ext cx="24288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THP: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211F1-27C6-4F2A-B4F6-6A408080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33875"/>
            <a:ext cx="371475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numeric forecasts + uncertainty bands.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E4099-5323-4662-90E0-5CD3E719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43500"/>
            <a:ext cx="2476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D2668-6DC7-4491-A904-6B1C627C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095875"/>
            <a:ext cx="24288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LLM: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54C20C-0158-4964-9260-ADC625B6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95875"/>
            <a:ext cx="371475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readable reasoning and caveats.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A3CA5-10C6-4326-8429-F130E2B9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1912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BACKTEST MAE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229C8-6F1C-4EE1-AF59-7F269ADF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4770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83.77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99F35-50EA-4280-9CD6-E567991B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924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B2F7A-AE48-470B-8A5F-1D607C77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1912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BASELINE MAE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14857-E81B-4724-9FE0-498C2E13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4770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167.74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D5DD2-956E-4F09-85F0-F4C0D59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924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7-day moving average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2068F-63F5-4A79-B49D-A815ED5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912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MODEL SIZE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1CD14-3A21-407F-9FFC-F2831FC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770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1.56 MB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ADED8C-0D17-4A70-A93E-1E640461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924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forecast-ready checkpoint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7E0DD-835E-446A-880C-0AD4CBB3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1912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PARAMETERS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63B996-BF48-493B-BC73-90B6631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770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0.38M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01CC7-48D6-4E74-A02F-84A4E948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924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fast local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E78E02-41FE-4812-B345-F27A6BEC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95625"/>
            <a:ext cx="43338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F6984-0632-4B36-B90B-5A6CB64F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43275"/>
            <a:ext cx="37147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Held-out validation MAE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BC6F4-7A8E-42E5-BDEF-A8F66C50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962400"/>
            <a:ext cx="876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632"/>
          </a:solidFill>
          <a:ln xmlns:a="http://schemas.openxmlformats.org/drawingml/2006/main" w="0">
            <a:solidFill>
              <a:srgbClr val="91C6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BAB6D-1E41-4D29-BAB3-7B270A4C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4667250"/>
            <a:ext cx="876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A6F69-DDF3-4851-8AE7-5F0BA20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3911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BE"/>
          </a:solidFill>
          <a:ln xmlns:a="http://schemas.openxmlformats.org/drawingml/2006/main" w="0">
            <a:solidFill>
              <a:srgbClr val="BEBE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238412-EEAB-4DB4-8AC8-427BF131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05225"/>
            <a:ext cx="11906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167.74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5BA846-5A4A-4398-9E99-A9D0F687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410075"/>
            <a:ext cx="11906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83.77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E3C606-82AC-468D-A3B8-63CE02A7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05450"/>
            <a:ext cx="1524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Moving avg 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B0AB3E-18C5-4689-8AF0-17A0694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5054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THP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4F4529-E48F-41A4-8326-E3340F6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667625"/>
            <a:ext cx="9334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Result: about 50% lower MAE than the 7-day moving-average baseline.</a:t>
            </a:r>
          </a:p>
        </p:txBody>
      </p:sp>
    </p:spTree>
    <p:extLst>
      <p:ext uri="{BB962C8B-B14F-4D97-AF65-F5344CB8AC3E}">
        <p14:creationId xmlns:p14="http://schemas.microsoft.com/office/powerpoint/2010/main" val="20420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2026-05-04T18:45:43.9830000Z</dcterms:created>
  <dcterms:modified xsi:type="dcterms:W3CDTF">2026-05-04T18:45:43.9830000Z</dcterms:modified>
</coreProperties>
</file>